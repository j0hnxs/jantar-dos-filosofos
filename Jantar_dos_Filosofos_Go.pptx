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a0fcd7d-4226-e712-2408-dc759d069c0f}">
          <p14:sldIdLst>
            <p14:sldId id="256"/>
            <p14:sldId id="257"/>
            <p14:sldId id="258"/>
          </p14:sldIdLst>
        </p14:section>
        <p14:section name="Problema e solução" id="{1b04bc12-64f9-115a-9f6e-b5bd39e1f958}">
          <p14:sldIdLst>
            <p14:sldId id="259"/>
            <p14:sldId id="260"/>
            <p14:sldId id="261"/>
          </p14:sldIdLst>
        </p14:section>
        <p14:section name="Código-fonte" id="{3fd161ad-1cc5-55f5-5880-551c4587299a}">
          <p14:sldIdLst>
            <p14:sldId id="262"/>
            <p14:sldId id="263"/>
            <p14:sldId id="264"/>
            <p14:sldId id="265"/>
            <p14:sldId id="266"/>
          </p14:sldIdLst>
        </p14:section>
        <p14:section name="Execução" id="{94264bae-04dd-9f6f-9d21-b4acd3d160e6}">
          <p14:sldIdLst>
            <p14:sldId id="267"/>
            <p14:sldId id="268"/>
          </p14:sldIdLst>
        </p14:section>
        <p14:section name="Análise comparativa" id="{c261f7f2-d185-e546-1dfb-5ee033795f05}">
          <p14:sldIdLst>
            <p14:sldId id="269"/>
            <p14:sldId id="270"/>
            <p14:sldId id="271"/>
            <p14:sldId id="272"/>
            <p14:sldId id="273"/>
          </p14:sldIdLst>
        </p14:section>
        <p14:section name="Go na prática" id="{b97b0c28-80a0-ce09-9972-7e73091b3bc7}">
          <p14:sldIdLst>
            <p14:sldId id="274"/>
          </p14:sldIdLst>
        </p14:section>
        <p14:section name="Encerramento" id="{56536f9f-4b05-8883-f983-abbe5f1f5583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trabalho A2: o clássico Jantar dos Filósofos implementado em Go, com comparação a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Pacote main, imports, constantes da simulação (5 filósofos, 3 refeições) e a struct Fork com seu Mutex.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função philosopher: defer wg.Done(), o laço de refeições, pedido de vaga ao garçom (seating) e a ordenação dos garfos.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Travar os dois garfos, comer, destravar na ordem inversa, liberar a vaga do garçom e mensagem final do filósofo.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Funções think e eat (sleep aleatório), início da main: criação dos garfos e do canal seating com capacidade N-1.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WaitGroup, disparo das 5 goroutines com go e wg.Wait() aguardando o fim da simulação.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Permalink: https://go.dev/play/p/MFBO_ue01rr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Docker, Kubernetes, Terraform, Prometheus, etcd e Caddy são escritos em Go. O código da transferência é um exemplo ilustrativo escrito para este trabalho (não faz parte do filosofos.go): reaproveita a ordenação de garfos por id para evitar deadlock entre contas.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0350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6035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UNICID · Ciência da Computação · Grupo 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o.dev/play/p/MFBO_ue01rr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Jantar dos Filósofos em Go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Tema C2 · Paradigma Concorrente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9377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Avaliação A2 — Paradigmas de Linguagens de Programação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UNICID · Ciência da Computação · Grupo 02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Prof. Cid Rodrigues de Andrade · São Paulo, 2026</a:t>
            </a:r>
            <a:endParaRPr lang="en-US" sz="1400" dirty="0"/>
          </a:p>
        </p:txBody>
      </p:sp>
      <p:sp>
        <p:nvSpPr>
          <p:cNvPr id="5" name="Mesa"/>
          <p:cNvSpPr/>
          <p:nvPr/>
        </p:nvSpPr>
        <p:spPr>
          <a:xfrm>
            <a:off x="8111871" y="2396871"/>
            <a:ext cx="2064258" cy="206425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Filosofo 0"/>
          <p:cNvSpPr/>
          <p:nvPr/>
        </p:nvSpPr>
        <p:spPr>
          <a:xfrm>
            <a:off x="8770468" y="1089508"/>
            <a:ext cx="747065" cy="747065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</a:t>
            </a:r>
            <a:endParaRPr lang="en-US" sz="1800" dirty="0"/>
          </a:p>
        </p:txBody>
      </p:sp>
      <p:sp>
        <p:nvSpPr>
          <p:cNvPr id="7" name="Garfo 0"/>
          <p:cNvSpPr/>
          <p:nvPr/>
        </p:nvSpPr>
        <p:spPr>
          <a:xfrm rot="2160000">
            <a:off x="10196087" y="1473368"/>
            <a:ext cx="137617" cy="825703"/>
          </a:xfrm>
          <a:prstGeom prst="roundRect">
            <a:avLst>
              <a:gd name="adj" fmla="val 19934"/>
            </a:avLst>
          </a:prstGeom>
          <a:solidFill>
            <a:schemeClr val="bg1"/>
          </a:solidFill>
          <a:ln/>
        </p:spPr>
      </p:sp>
      <p:sp>
        <p:nvSpPr>
          <p:cNvPr id="8" name="Filosofo 1"/>
          <p:cNvSpPr/>
          <p:nvPr/>
        </p:nvSpPr>
        <p:spPr>
          <a:xfrm>
            <a:off x="10640207" y="2447953"/>
            <a:ext cx="747065" cy="747065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Garfo 1"/>
          <p:cNvSpPr/>
          <p:nvPr/>
        </p:nvSpPr>
        <p:spPr>
          <a:xfrm rot="6480000">
            <a:off x="10888838" y="3605438"/>
            <a:ext cx="137617" cy="825703"/>
          </a:xfrm>
          <a:prstGeom prst="roundRect">
            <a:avLst>
              <a:gd name="adj" fmla="val 19934"/>
            </a:avLst>
          </a:prstGeom>
          <a:solidFill>
            <a:schemeClr val="bg1"/>
          </a:solidFill>
          <a:ln/>
        </p:spPr>
      </p:sp>
      <p:sp>
        <p:nvSpPr>
          <p:cNvPr id="10" name="Filosofo 2"/>
          <p:cNvSpPr/>
          <p:nvPr/>
        </p:nvSpPr>
        <p:spPr>
          <a:xfrm>
            <a:off x="9926030" y="4645963"/>
            <a:ext cx="747065" cy="747065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Garfo 2"/>
          <p:cNvSpPr/>
          <p:nvPr/>
        </p:nvSpPr>
        <p:spPr>
          <a:xfrm rot="10800000">
            <a:off x="9075191" y="4923130"/>
            <a:ext cx="137617" cy="825703"/>
          </a:xfrm>
          <a:prstGeom prst="roundRect">
            <a:avLst>
              <a:gd name="adj" fmla="val 19934"/>
            </a:avLst>
          </a:prstGeom>
          <a:solidFill>
            <a:schemeClr val="bg1"/>
          </a:solidFill>
          <a:ln/>
        </p:spPr>
      </p:sp>
      <p:sp>
        <p:nvSpPr>
          <p:cNvPr id="12" name="Filosofo 3"/>
          <p:cNvSpPr/>
          <p:nvPr/>
        </p:nvSpPr>
        <p:spPr>
          <a:xfrm>
            <a:off x="7614905" y="4645963"/>
            <a:ext cx="747065" cy="747065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Garfo 3"/>
          <p:cNvSpPr/>
          <p:nvPr/>
        </p:nvSpPr>
        <p:spPr>
          <a:xfrm rot="15120000">
            <a:off x="7261545" y="3605438"/>
            <a:ext cx="137617" cy="825703"/>
          </a:xfrm>
          <a:prstGeom prst="roundRect">
            <a:avLst>
              <a:gd name="adj" fmla="val 19934"/>
            </a:avLst>
          </a:prstGeom>
          <a:solidFill>
            <a:schemeClr val="bg1"/>
          </a:solidFill>
          <a:ln/>
        </p:spPr>
      </p:sp>
      <p:sp>
        <p:nvSpPr>
          <p:cNvPr id="14" name="Filosofo 4"/>
          <p:cNvSpPr/>
          <p:nvPr/>
        </p:nvSpPr>
        <p:spPr>
          <a:xfrm>
            <a:off x="6900729" y="2447953"/>
            <a:ext cx="747065" cy="747065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Garfo 4"/>
          <p:cNvSpPr/>
          <p:nvPr/>
        </p:nvSpPr>
        <p:spPr>
          <a:xfrm rot="19440000">
            <a:off x="7954296" y="1473368"/>
            <a:ext cx="137617" cy="825703"/>
          </a:xfrm>
          <a:prstGeom prst="roundRect">
            <a:avLst>
              <a:gd name="adj" fmla="val 19934"/>
            </a:avLst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Integrantes</a:t>
            </a:r>
            <a:endParaRPr lang="en-US" sz="3600" dirty="0"/>
          </a:p>
        </p:txBody>
      </p:sp>
      <p:sp>
        <p:nvSpPr>
          <p:cNvPr id="3" name="Cartao Gabriel Coutinho Silva"/>
          <p:cNvSpPr/>
          <p:nvPr/>
        </p:nvSpPr>
        <p:spPr>
          <a:xfrm>
            <a:off x="457200" y="1554480"/>
            <a:ext cx="2651760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Iniciais GC"/>
          <p:cNvSpPr/>
          <p:nvPr/>
        </p:nvSpPr>
        <p:spPr>
          <a:xfrm>
            <a:off x="1234440" y="18288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Gabriel Coutinho Silva</a:t>
            </a:r>
            <a:endParaRPr lang="en-US" sz="2000" dirty="0"/>
          </a:p>
        </p:txBody>
      </p:sp>
      <p:sp>
        <p:nvSpPr>
          <p:cNvPr id="6" name="Cartao João Victor Gomes Meira"/>
          <p:cNvSpPr/>
          <p:nvPr/>
        </p:nvSpPr>
        <p:spPr>
          <a:xfrm>
            <a:off x="3331464" y="1554480"/>
            <a:ext cx="2651760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Iniciais JM"/>
          <p:cNvSpPr/>
          <p:nvPr/>
        </p:nvSpPr>
        <p:spPr>
          <a:xfrm>
            <a:off x="4108704" y="182880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JM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14344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João Victor Gomes Meira</a:t>
            </a:r>
            <a:endParaRPr lang="en-US" sz="2000" dirty="0"/>
          </a:p>
        </p:txBody>
      </p:sp>
      <p:sp>
        <p:nvSpPr>
          <p:cNvPr id="9" name="Cartao Rayssa Bianca de Oliveira"/>
          <p:cNvSpPr/>
          <p:nvPr/>
        </p:nvSpPr>
        <p:spPr>
          <a:xfrm>
            <a:off x="6205728" y="1554480"/>
            <a:ext cx="2651760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Iniciais RO"/>
          <p:cNvSpPr/>
          <p:nvPr/>
        </p:nvSpPr>
        <p:spPr>
          <a:xfrm>
            <a:off x="6982968" y="1828800"/>
            <a:ext cx="1097280" cy="10972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388608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Rayssa Bianca de Oliveira</a:t>
            </a:r>
            <a:endParaRPr lang="en-US" sz="2000" dirty="0"/>
          </a:p>
        </p:txBody>
      </p:sp>
      <p:sp>
        <p:nvSpPr>
          <p:cNvPr id="12" name="Cartao Vinicius Augusto Rodrigues Silva"/>
          <p:cNvSpPr/>
          <p:nvPr/>
        </p:nvSpPr>
        <p:spPr>
          <a:xfrm>
            <a:off x="9079992" y="1554480"/>
            <a:ext cx="2651760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Iniciais VS"/>
          <p:cNvSpPr/>
          <p:nvPr/>
        </p:nvSpPr>
        <p:spPr>
          <a:xfrm>
            <a:off x="9857232" y="1828800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VS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262872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Vinicius Augusto Rodrigues Silva</a:t>
            </a:r>
            <a:endParaRPr lang="en-US" sz="2000" dirty="0"/>
          </a:p>
        </p:txBody>
      </p:sp>
      <p:sp>
        <p:nvSpPr>
          <p:cNvPr id="15" name="Faixa disciplina"/>
          <p:cNvSpPr/>
          <p:nvPr/>
        </p:nvSpPr>
        <p:spPr>
          <a:xfrm>
            <a:off x="457200" y="4937760"/>
            <a:ext cx="11274552" cy="10972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Disciplina: 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Paradigmas de Linguagens de Programação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Orientação: 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Prof. Cid Rodrigues de Andrade — UNICID, Ciência da Computação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Definição do tema</a:t>
            </a:r>
            <a:endParaRPr lang="en-US" sz="3600" dirty="0"/>
          </a:p>
        </p:txBody>
      </p:sp>
      <p:sp>
        <p:nvSpPr>
          <p:cNvPr id="3" name="Tile Paradigma"/>
          <p:cNvSpPr/>
          <p:nvPr/>
        </p:nvSpPr>
        <p:spPr>
          <a:xfrm>
            <a:off x="457200" y="1463040"/>
            <a:ext cx="35661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Concorrente</a:t>
            </a:r>
            <a:endParaRPr lang="en-US" sz="3600" dirty="0"/>
          </a:p>
        </p:txBody>
      </p:sp>
      <p:sp>
        <p:nvSpPr>
          <p:cNvPr id="5" name="Marcador Paradigma"/>
          <p:cNvSpPr/>
          <p:nvPr/>
        </p:nvSpPr>
        <p:spPr>
          <a:xfrm>
            <a:off x="731520" y="269748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606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Paradigma</a:t>
            </a:r>
            <a:endParaRPr lang="en-US" sz="1600" dirty="0"/>
          </a:p>
        </p:txBody>
      </p:sp>
      <p:sp>
        <p:nvSpPr>
          <p:cNvPr id="7" name="Tile Linguagem"/>
          <p:cNvSpPr/>
          <p:nvPr/>
        </p:nvSpPr>
        <p:spPr>
          <a:xfrm>
            <a:off x="4311396" y="1463040"/>
            <a:ext cx="35661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85716" y="1600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endParaRPr lang="en-US" sz="3600" dirty="0"/>
          </a:p>
        </p:txBody>
      </p:sp>
      <p:sp>
        <p:nvSpPr>
          <p:cNvPr id="9" name="Marcador Linguagem"/>
          <p:cNvSpPr/>
          <p:nvPr/>
        </p:nvSpPr>
        <p:spPr>
          <a:xfrm>
            <a:off x="4585716" y="269748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05756" y="2606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Linguagem</a:t>
            </a:r>
            <a:endParaRPr lang="en-US" sz="1600" dirty="0"/>
          </a:p>
        </p:txBody>
      </p:sp>
      <p:sp>
        <p:nvSpPr>
          <p:cNvPr id="11" name="Tile Código do tema"/>
          <p:cNvSpPr/>
          <p:nvPr/>
        </p:nvSpPr>
        <p:spPr>
          <a:xfrm>
            <a:off x="8165592" y="1463040"/>
            <a:ext cx="35661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39912" y="1600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3600" dirty="0"/>
          </a:p>
        </p:txBody>
      </p:sp>
      <p:sp>
        <p:nvSpPr>
          <p:cNvPr id="13" name="Marcador Código do tema"/>
          <p:cNvSpPr/>
          <p:nvPr/>
        </p:nvSpPr>
        <p:spPr>
          <a:xfrm>
            <a:off x="8439912" y="269748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59952" y="2606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Código do tema</a:t>
            </a:r>
            <a:endParaRPr lang="en-US" sz="1600" dirty="0"/>
          </a:p>
        </p:txBody>
      </p:sp>
      <p:sp>
        <p:nvSpPr>
          <p:cNvPr id="15" name="Cartao desafio"/>
          <p:cNvSpPr/>
          <p:nvPr/>
        </p:nvSpPr>
        <p:spPr>
          <a:xfrm>
            <a:off x="457200" y="3657600"/>
            <a:ext cx="11274552" cy="2468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40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Descrição do desafio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343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Implementar o problema clássico dos N filósofos disputando garfos compartilhados, evitando deadlock e starvation com os mecanismos de concorrência do Go.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Foco: comparar channels, sync.Mutex e sync.WaitGroup com threads e locks em Python.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problema clássico</a:t>
            </a:r>
            <a:endParaRPr lang="en-US" sz="3600" dirty="0"/>
          </a:p>
        </p:txBody>
      </p:sp>
      <p:sp>
        <p:nvSpPr>
          <p:cNvPr id="3" name="Mesa"/>
          <p:cNvSpPr/>
          <p:nvPr/>
        </p:nvSpPr>
        <p:spPr>
          <a:xfrm>
            <a:off x="2192274" y="2832354"/>
            <a:ext cx="2016252" cy="2016252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Filosofo 0"/>
          <p:cNvSpPr/>
          <p:nvPr/>
        </p:nvSpPr>
        <p:spPr>
          <a:xfrm>
            <a:off x="2835554" y="1555394"/>
            <a:ext cx="729691" cy="729691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</a:t>
            </a:r>
            <a:endParaRPr lang="en-US" sz="1800" dirty="0"/>
          </a:p>
        </p:txBody>
      </p:sp>
      <p:sp>
        <p:nvSpPr>
          <p:cNvPr id="5" name="Garfo 0"/>
          <p:cNvSpPr/>
          <p:nvPr/>
        </p:nvSpPr>
        <p:spPr>
          <a:xfrm rot="2160000">
            <a:off x="4228020" y="1930328"/>
            <a:ext cx="134417" cy="806501"/>
          </a:xfrm>
          <a:prstGeom prst="roundRect">
            <a:avLst>
              <a:gd name="adj" fmla="val 20408"/>
            </a:avLst>
          </a:prstGeom>
          <a:solidFill>
            <a:schemeClr val="accent2"/>
          </a:solidFill>
          <a:ln/>
        </p:spPr>
      </p:sp>
      <p:sp>
        <p:nvSpPr>
          <p:cNvPr id="6" name="Filosofo 1"/>
          <p:cNvSpPr/>
          <p:nvPr/>
        </p:nvSpPr>
        <p:spPr>
          <a:xfrm>
            <a:off x="4661811" y="2882248"/>
            <a:ext cx="729691" cy="729691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Garfo 1"/>
          <p:cNvSpPr/>
          <p:nvPr/>
        </p:nvSpPr>
        <p:spPr>
          <a:xfrm rot="6480000">
            <a:off x="4904661" y="4012815"/>
            <a:ext cx="134417" cy="806501"/>
          </a:xfrm>
          <a:prstGeom prst="roundRect">
            <a:avLst>
              <a:gd name="adj" fmla="val 20408"/>
            </a:avLst>
          </a:prstGeom>
          <a:solidFill>
            <a:schemeClr val="accent2"/>
          </a:solidFill>
          <a:ln/>
        </p:spPr>
      </p:sp>
      <p:sp>
        <p:nvSpPr>
          <p:cNvPr id="8" name="Filosofo 2"/>
          <p:cNvSpPr/>
          <p:nvPr/>
        </p:nvSpPr>
        <p:spPr>
          <a:xfrm>
            <a:off x="3964243" y="5029141"/>
            <a:ext cx="729691" cy="729691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Garfo 2"/>
          <p:cNvSpPr/>
          <p:nvPr/>
        </p:nvSpPr>
        <p:spPr>
          <a:xfrm rot="10800000">
            <a:off x="3133192" y="5299862"/>
            <a:ext cx="134417" cy="806501"/>
          </a:xfrm>
          <a:prstGeom prst="roundRect">
            <a:avLst>
              <a:gd name="adj" fmla="val 20408"/>
            </a:avLst>
          </a:prstGeom>
          <a:solidFill>
            <a:schemeClr val="accent2"/>
          </a:solidFill>
          <a:ln/>
        </p:spPr>
      </p:sp>
      <p:sp>
        <p:nvSpPr>
          <p:cNvPr id="10" name="Filosofo 3"/>
          <p:cNvSpPr/>
          <p:nvPr/>
        </p:nvSpPr>
        <p:spPr>
          <a:xfrm>
            <a:off x="1706866" y="5029141"/>
            <a:ext cx="729691" cy="729691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Garfo 3"/>
          <p:cNvSpPr/>
          <p:nvPr/>
        </p:nvSpPr>
        <p:spPr>
          <a:xfrm rot="15120000">
            <a:off x="1361723" y="4012815"/>
            <a:ext cx="134417" cy="806501"/>
          </a:xfrm>
          <a:prstGeom prst="roundRect">
            <a:avLst>
              <a:gd name="adj" fmla="val 20408"/>
            </a:avLst>
          </a:prstGeom>
          <a:solidFill>
            <a:schemeClr val="accent2"/>
          </a:solidFill>
          <a:ln/>
        </p:spPr>
      </p:sp>
      <p:sp>
        <p:nvSpPr>
          <p:cNvPr id="12" name="Filosofo 4"/>
          <p:cNvSpPr/>
          <p:nvPr/>
        </p:nvSpPr>
        <p:spPr>
          <a:xfrm>
            <a:off x="1009298" y="2882248"/>
            <a:ext cx="729691" cy="729691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13" name="Garfo 4"/>
          <p:cNvSpPr/>
          <p:nvPr/>
        </p:nvSpPr>
        <p:spPr>
          <a:xfrm rot="19440000">
            <a:off x="2038364" y="1930328"/>
            <a:ext cx="134417" cy="806501"/>
          </a:xfrm>
          <a:prstGeom prst="roundRect">
            <a:avLst>
              <a:gd name="adj" fmla="val 20408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371600"/>
            <a:ext cx="5330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 = 5 filósofos e 5 garfos em mesa circular. Cada garfo é dividido entre dois vizinhos, e comer exige os dois.</a:t>
            </a:r>
            <a:endParaRPr lang="en-US" sz="1800" dirty="0"/>
          </a:p>
        </p:txBody>
      </p:sp>
      <p:sp>
        <p:nvSpPr>
          <p:cNvPr id="15" name="Cartao Deadlock"/>
          <p:cNvSpPr/>
          <p:nvPr/>
        </p:nvSpPr>
        <p:spPr>
          <a:xfrm>
            <a:off x="6400800" y="2743200"/>
            <a:ext cx="5330952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irculo Deadlock"/>
          <p:cNvSpPr/>
          <p:nvPr/>
        </p:nvSpPr>
        <p:spPr>
          <a:xfrm>
            <a:off x="6629400" y="31546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0" descr="Dead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3337560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58952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Deadlock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3383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Todos pegam um garfo e esperam pelo outro, para sempre.</a:t>
            </a:r>
            <a:endParaRPr lang="en-US" sz="1600" dirty="0"/>
          </a:p>
        </p:txBody>
      </p:sp>
      <p:sp>
        <p:nvSpPr>
          <p:cNvPr id="20" name="Cartao Starvation"/>
          <p:cNvSpPr/>
          <p:nvPr/>
        </p:nvSpPr>
        <p:spPr>
          <a:xfrm>
            <a:off x="6400800" y="4526280"/>
            <a:ext cx="5330952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Circulo Starvation"/>
          <p:cNvSpPr/>
          <p:nvPr/>
        </p:nvSpPr>
        <p:spPr>
          <a:xfrm>
            <a:off x="6629400" y="493776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mage 1" descr="Starv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512064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589520" y="4709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Starvation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7589520" y="5166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 filósofo fica impedido de comer indefinidamente.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Filósofo i usa os garfos i e (i+1) %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Arquitetura da solução</a:t>
            </a:r>
            <a:endParaRPr lang="en-US" sz="3600" dirty="0"/>
          </a:p>
        </p:txBody>
      </p:sp>
      <p:sp>
        <p:nvSpPr>
          <p:cNvPr id="3" name="Linha Fork (struct)"/>
          <p:cNvSpPr/>
          <p:nvPr/>
        </p:nvSpPr>
        <p:spPr>
          <a:xfrm>
            <a:off x="457200" y="1325880"/>
            <a:ext cx="11274552" cy="8595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Circulo Fork (struct)"/>
          <p:cNvSpPr/>
          <p:nvPr/>
        </p:nvSpPr>
        <p:spPr>
          <a:xfrm>
            <a:off x="640080" y="143560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ork (struc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91056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25880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Fork (struct)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983480" y="1325880"/>
            <a:ext cx="6583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Garfo com id e um sync.Mutex próprio: só um filósofo por vez o segura.</a:t>
            </a:r>
            <a:endParaRPr lang="en-US" sz="1400" dirty="0"/>
          </a:p>
        </p:txBody>
      </p:sp>
      <p:sp>
        <p:nvSpPr>
          <p:cNvPr id="8" name="Linha philosopher (goroutine)"/>
          <p:cNvSpPr/>
          <p:nvPr/>
        </p:nvSpPr>
        <p:spPr>
          <a:xfrm>
            <a:off x="457200" y="2313432"/>
            <a:ext cx="11274552" cy="8595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Circulo philosopher (goroutine)"/>
          <p:cNvSpPr/>
          <p:nvPr/>
        </p:nvSpPr>
        <p:spPr>
          <a:xfrm>
            <a:off x="640080" y="24231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hilosopher (goroutin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5786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313432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philosopher (goroutine)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313432"/>
            <a:ext cx="6583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Ciclo de vida: pensar, pedir vaga, travar garfos, comer, destravar, devolver vaga. Cinco goroutines disparadas com go.</a:t>
            </a:r>
            <a:endParaRPr lang="en-US" sz="1400" dirty="0"/>
          </a:p>
        </p:txBody>
      </p:sp>
      <p:sp>
        <p:nvSpPr>
          <p:cNvPr id="13" name="Linha seating (chan, capacidade N-1)"/>
          <p:cNvSpPr/>
          <p:nvPr/>
        </p:nvSpPr>
        <p:spPr>
          <a:xfrm>
            <a:off x="457200" y="3300984"/>
            <a:ext cx="11274552" cy="8595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Circulo seating (chan, capacidade N-1)"/>
          <p:cNvSpPr/>
          <p:nvPr/>
        </p:nvSpPr>
        <p:spPr>
          <a:xfrm>
            <a:off x="640080" y="3410712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seating (chan, capacidade N-1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56616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300984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seating (chan, capacidade N-1)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300984"/>
            <a:ext cx="6583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“garçom” de Dijkstra: 4 vagas para 5 filósofos.</a:t>
            </a:r>
            <a:endParaRPr lang="en-US" sz="1400" dirty="0"/>
          </a:p>
        </p:txBody>
      </p:sp>
      <p:sp>
        <p:nvSpPr>
          <p:cNvPr id="18" name="Linha Aquisição ordenada"/>
          <p:cNvSpPr/>
          <p:nvPr/>
        </p:nvSpPr>
        <p:spPr>
          <a:xfrm>
            <a:off x="457200" y="4288536"/>
            <a:ext cx="11274552" cy="8595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irculo Aquisição ordenada"/>
          <p:cNvSpPr/>
          <p:nvPr/>
        </p:nvSpPr>
        <p:spPr>
          <a:xfrm>
            <a:off x="640080" y="4398264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Aquisição ordenad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55371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288536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Aquisição ordenada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4983480" y="4288536"/>
            <a:ext cx="6583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filósofo trava primeiro o garfo de menor id.</a:t>
            </a:r>
            <a:endParaRPr lang="en-US" sz="1400" dirty="0"/>
          </a:p>
        </p:txBody>
      </p:sp>
      <p:sp>
        <p:nvSpPr>
          <p:cNvPr id="23" name="Linha sync.WaitGroup"/>
          <p:cNvSpPr/>
          <p:nvPr/>
        </p:nvSpPr>
        <p:spPr>
          <a:xfrm>
            <a:off x="457200" y="5276088"/>
            <a:ext cx="11274552" cy="8595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Circulo sync.WaitGroup"/>
          <p:cNvSpPr/>
          <p:nvPr/>
        </p:nvSpPr>
        <p:spPr>
          <a:xfrm>
            <a:off x="640080" y="5385816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5" name="Image 4" descr="sync.WaitGro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541264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5276088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sync.WaitGroup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983480" y="5276088"/>
            <a:ext cx="6583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main espera os 5 filósofos terminarem as 3 refeições: Add(5), Wait() e Done() via defer.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Como evitamos o deadlock</a:t>
            </a:r>
            <a:endParaRPr lang="en-US" sz="3600" dirty="0"/>
          </a:p>
        </p:txBody>
      </p:sp>
      <p:sp>
        <p:nvSpPr>
          <p:cNvPr id="3" name="Barreira 1"/>
          <p:cNvSpPr/>
          <p:nvPr/>
        </p:nvSpPr>
        <p:spPr>
          <a:xfrm>
            <a:off x="457200" y="1371600"/>
            <a:ext cx="5486400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Numero 1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Porteiro (seating)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Só N-1 = 4 filósofos disputam garfos ao mesmo tempo. Nunca os 5 ficam com um garfo na mão esperando o vizinho.</a:t>
            </a:r>
            <a:endParaRPr lang="en-US" sz="1600" dirty="0"/>
          </a:p>
        </p:txBody>
      </p:sp>
      <p:sp>
        <p:nvSpPr>
          <p:cNvPr id="7" name="Trecho 1"/>
          <p:cNvSpPr/>
          <p:nvPr/>
        </p:nvSpPr>
        <p:spPr>
          <a:xfrm>
            <a:off x="731520" y="3749040"/>
            <a:ext cx="4937760" cy="10972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ocupa vaga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libera vaga</a:t>
            </a:r>
            <a:endParaRPr lang="en-US" sz="1300" dirty="0"/>
          </a:p>
        </p:txBody>
      </p:sp>
      <p:sp>
        <p:nvSpPr>
          <p:cNvPr id="9" name="Barreira 2"/>
          <p:cNvSpPr/>
          <p:nvPr/>
        </p:nvSpPr>
        <p:spPr>
          <a:xfrm>
            <a:off x="6245352" y="1371600"/>
            <a:ext cx="5486400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Numero 2"/>
          <p:cNvSpPr/>
          <p:nvPr/>
        </p:nvSpPr>
        <p:spPr>
          <a:xfrm>
            <a:off x="6519672" y="16002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42632" y="1600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Ordenação dos garfos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Sempre trava primeiro o garfo de menor id. Com ordem total dos recursos, não existe ciclo de espera circular.</a:t>
            </a:r>
            <a:endParaRPr lang="en-US" sz="1600" dirty="0"/>
          </a:p>
        </p:txBody>
      </p:sp>
      <p:sp>
        <p:nvSpPr>
          <p:cNvPr id="13" name="Trecho 2"/>
          <p:cNvSpPr/>
          <p:nvPr/>
        </p:nvSpPr>
        <p:spPr>
          <a:xfrm>
            <a:off x="6519672" y="3749040"/>
            <a:ext cx="4937760" cy="10972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02552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Faixa starvation"/>
          <p:cNvSpPr/>
          <p:nvPr/>
        </p:nvSpPr>
        <p:spPr>
          <a:xfrm>
            <a:off x="457200" y="5394960"/>
            <a:ext cx="11274552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Starvation: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mitigada pelo porteiro e pelos tempos aleatórios de pensar/comer. Mutex e channels de Go não garantem fila FIFO estrita.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Código-fonte · 1/5</a:t>
            </a:r>
            <a:endParaRPr lang="en-US" sz="3600" dirty="0"/>
          </a:p>
        </p:txBody>
      </p:sp>
      <p:sp>
        <p:nvSpPr>
          <p:cNvPr id="3" name="Cartao de codigo"/>
          <p:cNvSpPr/>
          <p:nvPr/>
        </p:nvSpPr>
        <p:spPr>
          <a:xfrm>
            <a:off x="457200" y="1188720"/>
            <a:ext cx="11274552" cy="5118811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Codigo linhas 1-26"/>
          <p:cNvSpPr txBox="1"/>
          <p:nvPr/>
        </p:nvSpPr>
        <p:spPr>
          <a:xfrm>
            <a:off x="640080" y="1280160"/>
            <a:ext cx="10927080" cy="4935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"fmt"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"math/rand"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"sync"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"time"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==========================================================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Parâmetros da simulação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==========================================================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numPhilosophers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 filósofos e N garfos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mealsPerPhilosopher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quantas vezes cada filósofo deve comer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Fork representa um garfo compartilhado. Cada garfo é protegido por seu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próprio Mutex: apenas um filósofo pode segurá-lo por vez.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philosopher é a goroutine que representa o ciclo de vida de UM filósofo: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pensar -&gt; tentar pegar os garfos -&gt; comer -&gt; devolver os garfos -&gt; repetir.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6446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filosofos.go · linhas 1–26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Código-fonte · 2/5</a:t>
            </a:r>
            <a:endParaRPr lang="en-US" sz="3600" dirty="0"/>
          </a:p>
        </p:txBody>
      </p:sp>
      <p:sp>
        <p:nvSpPr>
          <p:cNvPr id="3" name="Cartao de codigo"/>
          <p:cNvSpPr/>
          <p:nvPr/>
        </p:nvSpPr>
        <p:spPr>
          <a:xfrm>
            <a:off x="457200" y="1188720"/>
            <a:ext cx="11274552" cy="5118811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Codigo linhas 27-50"/>
          <p:cNvSpPr txBox="1"/>
          <p:nvPr/>
        </p:nvSpPr>
        <p:spPr>
          <a:xfrm>
            <a:off x="640080" y="1280160"/>
            <a:ext cx="10927080" cy="4935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philosopher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leftFork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rightFork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WaitGroup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mealsPerPhilosopher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(1) Pede permissão ao "garçom" (arbitrador de Dijkstra) antes 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disputar os garfos. O canal `seating` tem capacidade N-1, ou seja,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máximo N-1 filósofos podem estar tentando pegar garfos ao mesmo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tempo. Isso torna IMPOSSÍVEL que os N filósofos fiquem, cada um,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 um garfo na mão esperando pelo vizinho — a condição necessária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deadlock (espera circular) nunca se forma.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(2) Aquisição ORDENADA dos garfos: sempre trava primeiro o garfo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 menor id. Essa é uma segunda barreira independente contra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deadlock (quebra de espera circular por ordenação total 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recursos), mantida mesmo que a capacidade do "garçom" mude 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futuro.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leftFork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rightFork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6446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filosofos.go · linhas 27–50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Código-fonte · 3/5</a:t>
            </a:r>
            <a:endParaRPr lang="en-US" sz="3600" dirty="0"/>
          </a:p>
        </p:txBody>
      </p:sp>
      <p:sp>
        <p:nvSpPr>
          <p:cNvPr id="3" name="Cartao de codigo"/>
          <p:cNvSpPr/>
          <p:nvPr/>
        </p:nvSpPr>
        <p:spPr>
          <a:xfrm>
            <a:off x="457200" y="1188720"/>
            <a:ext cx="11274552" cy="463600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Codigo linhas 51-70"/>
          <p:cNvSpPr txBox="1"/>
          <p:nvPr/>
        </p:nvSpPr>
        <p:spPr>
          <a:xfrm>
            <a:off x="640080" y="1280160"/>
            <a:ext cx="10927080" cy="445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"Filósofo %d pegou os garfos %d e %d e está COMENDO (refeição %d)\n"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(3) Libera o assento para que outro filósofo possa tentar comer.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"Filósofo %d devolveu os garfos %d e %d (refeição %d concluída)\n"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leftFork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rightFork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"&gt;&gt;&gt; Filósofo %d terminou todas as suas refeições e saiu da mesa.\n"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6446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filosofos.go · linhas 51–70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Código-fonte · 4/5</a:t>
            </a:r>
            <a:endParaRPr lang="en-US" sz="3600" dirty="0"/>
          </a:p>
        </p:txBody>
      </p:sp>
      <p:sp>
        <p:nvSpPr>
          <p:cNvPr id="3" name="Cartao de codigo"/>
          <p:cNvSpPr/>
          <p:nvPr/>
        </p:nvSpPr>
        <p:spPr>
          <a:xfrm>
            <a:off x="457200" y="1188720"/>
            <a:ext cx="11274552" cy="51206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Codigo linhas 71-95"/>
          <p:cNvSpPr txBox="1"/>
          <p:nvPr/>
        </p:nvSpPr>
        <p:spPr>
          <a:xfrm>
            <a:off x="640080" y="1280160"/>
            <a:ext cx="109270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"Filósofo %d está PENSANDO...\n"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Intn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Millisecond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Intn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Millisecond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UnixNano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Cada garfo é um recurso compartilhado independente, identificado por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um índice de 0 a N-1.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numPhilosophers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numPhilosophers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Canal usado como semáforo contador (não para trocar dados, e sim como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mecanismo de sincronização): representa o "garçom" do problema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clássico. Capacidade N-1 garante que ao menos um filósofo sempre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consiga liberar um garfo, prevenindo deadlock.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numPhilosophers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6446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filosofos.go · linhas 71–95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Código-fonte · 5/5</a:t>
            </a:r>
            <a:endParaRPr lang="en-US" sz="3600" dirty="0"/>
          </a:p>
        </p:txBody>
      </p:sp>
      <p:sp>
        <p:nvSpPr>
          <p:cNvPr id="3" name="Cartao de codigo"/>
          <p:cNvSpPr/>
          <p:nvPr/>
        </p:nvSpPr>
        <p:spPr>
          <a:xfrm>
            <a:off x="457200" y="1188720"/>
            <a:ext cx="11274552" cy="40325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Codigo linhas 96-111"/>
          <p:cNvSpPr txBox="1"/>
          <p:nvPr/>
        </p:nvSpPr>
        <p:spPr>
          <a:xfrm>
            <a:off x="640080" y="1280160"/>
            <a:ext cx="1092708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WaitGroup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numPhilosophers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Cada filósofo é uma goroutine independente, concorrendo pelos dois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garfos vizinhos (esquerdo e direito) dispostos em círculo.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numPhilosophers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forks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forks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numPhilosophers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philosopher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goroutine principal aguarda todas as goroutines dos filósofos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terminarem antes de encerrar o programa.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"Todos os filósofos terminaram. Simulação encerrada com sucesso."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6446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filosofos.go · linhas 96–111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Execute online no Go Playground</a:t>
            </a:r>
            <a:endParaRPr lang="en-US" sz="3600" dirty="0"/>
          </a:p>
        </p:txBody>
      </p:sp>
      <p:sp>
        <p:nvSpPr>
          <p:cNvPr id="3" name="Passo 1"/>
          <p:cNvSpPr/>
          <p:nvPr/>
        </p:nvSpPr>
        <p:spPr>
          <a:xfrm>
            <a:off x="457200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Acesse o Go Playground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965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go.dev/play, sem instalar nada.</a:t>
            </a:r>
            <a:endParaRPr lang="en-US" sz="1600" dirty="0"/>
          </a:p>
        </p:txBody>
      </p:sp>
      <p:sp>
        <p:nvSpPr>
          <p:cNvPr id="6" name="Passo 2"/>
          <p:cNvSpPr/>
          <p:nvPr/>
        </p:nvSpPr>
        <p:spPr>
          <a:xfrm>
            <a:off x="457200" y="3108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017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Cole o código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520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 o filosofos.go dos slides anteriores ou abra o permalink ao lado.</a:t>
            </a:r>
            <a:endParaRPr lang="en-US" sz="1600" dirty="0"/>
          </a:p>
        </p:txBody>
      </p:sp>
      <p:sp>
        <p:nvSpPr>
          <p:cNvPr id="9" name="Passo 3"/>
          <p:cNvSpPr/>
          <p:nvPr/>
        </p:nvSpPr>
        <p:spPr>
          <a:xfrm>
            <a:off x="457200" y="46634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4572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Clique em Run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50749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Não há entrada de dados (sem stdin): a simulação é autocontida.</a:t>
            </a:r>
            <a:endParaRPr lang="en-US" sz="1600" dirty="0"/>
          </a:p>
        </p:txBody>
      </p:sp>
      <p:sp>
        <p:nvSpPr>
          <p:cNvPr id="12" name="Cartao permalink"/>
          <p:cNvSpPr/>
          <p:nvPr/>
        </p:nvSpPr>
        <p:spPr>
          <a:xfrm>
            <a:off x="6400800" y="1463040"/>
            <a:ext cx="5330952" cy="4480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irculo play"/>
          <p:cNvSpPr/>
          <p:nvPr/>
        </p:nvSpPr>
        <p:spPr>
          <a:xfrm>
            <a:off x="8275320" y="1783080"/>
            <a:ext cx="1554480" cy="1554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0" descr="Execu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2" y="2267712"/>
            <a:ext cx="585216" cy="58521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675120" y="3611880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Permalink do código</a:t>
            </a:r>
            <a:endParaRPr lang="en-US" sz="2000" dirty="0"/>
          </a:p>
        </p:txBody>
      </p:sp>
      <p:sp>
        <p:nvSpPr>
          <p:cNvPr id="16" name="Text 13">
            <a:hlinkClick r:id="rId2" tooltip="Abrir no Go Playground"/>
          </p:cNvPr>
          <p:cNvSpPr txBox="1"/>
          <p:nvPr/>
        </p:nvSpPr>
        <p:spPr>
          <a:xfrm>
            <a:off x="6675120" y="4114800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000000"/>
                </a:solidFill>
                <a:hlinkClick r:id="rId2" invalidUrl="" action="" tgtFrame="" tooltip="Abrir no Go Playgrou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https://go.dev/play/p/MFBO_ue01rr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4754880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Clique no link para abrir o código pronto e depois em Run.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Saída esperada</a:t>
            </a:r>
            <a:endParaRPr lang="en-US" sz="3600" dirty="0"/>
          </a:p>
        </p:txBody>
      </p:sp>
      <p:sp>
        <p:nvSpPr>
          <p:cNvPr id="3" name="Console"/>
          <p:cNvSpPr/>
          <p:nvPr/>
        </p:nvSpPr>
        <p:spPr>
          <a:xfrm>
            <a:off x="457200" y="1280160"/>
            <a:ext cx="7315200" cy="42062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4 está PENSANDO...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0 está PENSANDO...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1 está PENSANDO...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3 está PENSANDO...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2 está PENSANDO...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0 pegou os garfos 0 e 1 e está COMENDO (refeição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2 pegou os garfos 2 e 3 e está COMENDO (refeição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0 devolveu os garfos 0 e 1 (refeição 1 concluída)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0 está PENSANDO...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4 pegou os garfos 0 e 4 e está COMENDO (refeição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2 devolveu os garfos 2 e 3 (refeição 1 concluída)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2 está PENSANDO...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1 pegou os garfos 1 e 2 e está COMENDO (refeição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4 devolveu os garfos 4 e 0 (refeição 1 concluída)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4 está PENSANDO...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3 pegou os garfos 3 e 4 e está COMENDO (refeição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1 devolveu os garfos 1 e 2 (refeição 1 concluída)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Filósofo 1 está PENSANDO...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[...]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Filósofo 1 terminou todas as suas refeições e saiu da mesa.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 os filósofos terminaram. Simulação encerrada com sucesso.</a:t>
            </a:r>
            <a:endParaRPr lang="en-US" sz="1200" dirty="0"/>
          </a:p>
        </p:txBody>
      </p:sp>
      <p:sp>
        <p:nvSpPr>
          <p:cNvPr id="5" name="Nota Padrão constante"/>
          <p:cNvSpPr/>
          <p:nvPr/>
        </p:nvSpPr>
        <p:spPr>
          <a:xfrm>
            <a:off x="8138160" y="1280160"/>
            <a:ext cx="3593592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Marcador Padrão constante"/>
          <p:cNvSpPr/>
          <p:nvPr/>
        </p:nvSpPr>
        <p:spPr>
          <a:xfrm>
            <a:off x="8321040" y="146304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41080" y="1371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Padrão constante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18288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pensar → comer → devolver garfos → repetir 3 vezes → sair da mesa.</a:t>
            </a:r>
            <a:endParaRPr lang="en-US" sz="1400" dirty="0"/>
          </a:p>
        </p:txBody>
      </p:sp>
      <p:sp>
        <p:nvSpPr>
          <p:cNvPr id="9" name="Nota Ordem variável"/>
          <p:cNvSpPr/>
          <p:nvPr/>
        </p:nvSpPr>
        <p:spPr>
          <a:xfrm>
            <a:off x="8138160" y="2926080"/>
            <a:ext cx="3593592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Marcador Ordem variável"/>
          <p:cNvSpPr/>
          <p:nvPr/>
        </p:nvSpPr>
        <p:spPr>
          <a:xfrm>
            <a:off x="8321040" y="310896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41080" y="3017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Ordem variável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4747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escalonador do Go e o rand.Intn mudam a ordem das linhas a cada execução.</a:t>
            </a:r>
            <a:endParaRPr lang="en-US" sz="1400" dirty="0"/>
          </a:p>
        </p:txBody>
      </p:sp>
      <p:sp>
        <p:nvSpPr>
          <p:cNvPr id="13" name="Nota Sem travar"/>
          <p:cNvSpPr/>
          <p:nvPr/>
        </p:nvSpPr>
        <p:spPr>
          <a:xfrm>
            <a:off x="8138160" y="4572000"/>
            <a:ext cx="3593592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Marcador Sem travar"/>
          <p:cNvSpPr/>
          <p:nvPr/>
        </p:nvSpPr>
        <p:spPr>
          <a:xfrm>
            <a:off x="8321040" y="475488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41080" y="4663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Sem travar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51206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Nenhum deadlock: todos os filósofos terminam a simulação.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Análise: sintaxe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245352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Python</a:t>
            </a:r>
            <a:endParaRPr lang="en-US" sz="1800" dirty="0"/>
          </a:p>
        </p:txBody>
      </p:sp>
      <p:sp>
        <p:nvSpPr>
          <p:cNvPr id="5" name="Trecho Disparar execução concorrente Go"/>
          <p:cNvSpPr/>
          <p:nvPr/>
        </p:nvSpPr>
        <p:spPr>
          <a:xfrm>
            <a:off x="457200" y="1645920"/>
            <a:ext cx="5486400" cy="1828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philosopher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recho Disparar execução concorrente Python"/>
          <p:cNvSpPr/>
          <p:nvPr/>
        </p:nvSpPr>
        <p:spPr>
          <a:xfrm>
            <a:off x="6245352" y="1645920"/>
            <a:ext cx="5486400" cy="1828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28232" y="17373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threading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philosopher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Trecho Limitar a concorrência (garçom) Go"/>
          <p:cNvSpPr/>
          <p:nvPr/>
        </p:nvSpPr>
        <p:spPr>
          <a:xfrm>
            <a:off x="457200" y="3657600"/>
            <a:ext cx="5486400" cy="14173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74904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ocupa vaga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libera vaga</a:t>
            </a:r>
            <a:endParaRPr lang="en-US" sz="1200" dirty="0"/>
          </a:p>
        </p:txBody>
      </p:sp>
      <p:sp>
        <p:nvSpPr>
          <p:cNvPr id="11" name="Trecho Limitar a concorrência (garçom) Python"/>
          <p:cNvSpPr/>
          <p:nvPr/>
        </p:nvSpPr>
        <p:spPr>
          <a:xfrm>
            <a:off x="6245352" y="3657600"/>
            <a:ext cx="5486400" cy="14173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8232" y="374904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acquire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Semaphore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seating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25780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go: uma palavra-chave dispara a concorrência; Python instancia Thread e chama start().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chan e &lt;-: sintaxe nativa; Python usa classes prontas (Lock, Semaphore).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Ponteiros (*Fork, &amp;wg) mostram o que é compartilhado; em Python é implícito.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Análise: semântica</a:t>
            </a:r>
            <a:endParaRPr lang="en-US" sz="3600" dirty="0"/>
          </a:p>
        </p:txBody>
      </p:sp>
      <p:sp>
        <p:nvSpPr>
          <p:cNvPr id="3" name="Cartao Tipagem"/>
          <p:cNvSpPr/>
          <p:nvPr/>
        </p:nvSpPr>
        <p:spPr>
          <a:xfrm>
            <a:off x="457200" y="1371600"/>
            <a:ext cx="5486400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Tipagem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 é estática e compilada: erros de tipo aparecem antes de rodar. Python é dinâmica: o erro surge só na execução. Em código concorrente, o compilador garante que leftFork e rightFork são sempre *Fork.</a:t>
            </a:r>
            <a:endParaRPr lang="en-US" sz="1500" dirty="0"/>
          </a:p>
        </p:txBody>
      </p:sp>
      <p:sp>
        <p:nvSpPr>
          <p:cNvPr id="6" name="Cartao Escopo"/>
          <p:cNvSpPr/>
          <p:nvPr/>
        </p:nvSpPr>
        <p:spPr>
          <a:xfrm>
            <a:off x="6245352" y="1371600"/>
            <a:ext cx="5486400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19672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Escopo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0116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Ambas usam escopo léxico (por bloco). Go é mais restritivo: variável declarada e nunca usada é rejeitada pelo compilador.</a:t>
            </a:r>
            <a:endParaRPr lang="en-US" sz="1500" dirty="0"/>
          </a:p>
        </p:txBody>
      </p:sp>
      <p:sp>
        <p:nvSpPr>
          <p:cNvPr id="9" name="Cartao comunicacao"/>
          <p:cNvSpPr/>
          <p:nvPr/>
        </p:nvSpPr>
        <p:spPr>
          <a:xfrm>
            <a:off x="457200" y="3657600"/>
            <a:ext cx="11274552" cy="2606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767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Comunicação: o código usa os dois modelos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43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Memória compartilhada + lock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Garfos com sync.Mutex, equivalente ao threading.Lock do Python.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4343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Passagem de mensagens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Canal seating: a própria comunicação garante a exclusão mútua.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“Não compartilhe memória para se comunicar; comunique-se para compartilhar memória.”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Análise: gerenciamento de memória</a:t>
            </a:r>
            <a:endParaRPr lang="en-US" sz="3600" dirty="0"/>
          </a:p>
        </p:txBody>
      </p:sp>
      <p:sp>
        <p:nvSpPr>
          <p:cNvPr id="3" name="Coluna C"/>
          <p:cNvSpPr/>
          <p:nvPr/>
        </p:nvSpPr>
        <p:spPr>
          <a:xfrm>
            <a:off x="457200" y="1371600"/>
            <a:ext cx="3611880" cy="3931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elo C"/>
          <p:cNvSpPr/>
          <p:nvPr/>
        </p:nvSpPr>
        <p:spPr>
          <a:xfrm>
            <a:off x="731520" y="160020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Manual: malloc e free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Vazamentos, double free e uso após free dão comportamento indefinido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Problemas inexistentes em Go e Python</a:t>
            </a:r>
            <a:endParaRPr lang="en-US" sz="1500" dirty="0"/>
          </a:p>
        </p:txBody>
      </p:sp>
      <p:sp>
        <p:nvSpPr>
          <p:cNvPr id="6" name="Coluna Python"/>
          <p:cNvSpPr/>
          <p:nvPr/>
        </p:nvSpPr>
        <p:spPr>
          <a:xfrm>
            <a:off x="4288536" y="1371600"/>
            <a:ext cx="3611880" cy="3931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elo Python"/>
          <p:cNvSpPr/>
          <p:nvPr/>
        </p:nvSpPr>
        <p:spPr>
          <a:xfrm>
            <a:off x="4562856" y="160020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Python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62856" y="23317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Contagem de referências + coletor de ciclos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 a cada atribuição e desalocação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Threads do SO: pilha fixa e maior</a:t>
            </a:r>
            <a:endParaRPr lang="en-US" sz="1500" dirty="0"/>
          </a:p>
        </p:txBody>
      </p:sp>
      <p:sp>
        <p:nvSpPr>
          <p:cNvPr id="9" name="Coluna Go"/>
          <p:cNvSpPr/>
          <p:nvPr/>
        </p:nvSpPr>
        <p:spPr>
          <a:xfrm>
            <a:off x="8119872" y="1371600"/>
            <a:ext cx="3611880" cy="3931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Selo Go"/>
          <p:cNvSpPr/>
          <p:nvPr/>
        </p:nvSpPr>
        <p:spPr>
          <a:xfrm>
            <a:off x="8394192" y="160020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3317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GC concorrente de rastreamento (tracing)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Escape analysis decide pilha ou heap, ex.: forks[i] = &amp;Fork{id: i} vai ao heap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Goroutines: pilha inicial de poucos KB que cresce sob demanda</a:t>
            </a:r>
            <a:endParaRPr lang="en-US" sz="1500" dirty="0"/>
          </a:p>
        </p:txBody>
      </p:sp>
      <p:sp>
        <p:nvSpPr>
          <p:cNvPr id="12" name="Faixa goroutines"/>
          <p:cNvSpPr/>
          <p:nvPr/>
        </p:nvSpPr>
        <p:spPr>
          <a:xfrm>
            <a:off x="457200" y="5532120"/>
            <a:ext cx="11274552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Por que escala: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milhares de goroutines cabem na memória; threads do SO reservam bem mais cada uma.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Análise: trade-offs</a:t>
            </a:r>
            <a:endParaRPr lang="en-US" sz="3600" dirty="0"/>
          </a:p>
        </p:txBody>
      </p:sp>
      <p:sp>
        <p:nvSpPr>
          <p:cNvPr id="3" name="Coluna Vantagens do modelo de Go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4" name="Image 0" descr="Vantagens do modelo de 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554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Vantagens do modelo de Go</a:t>
            </a:r>
            <a:endParaRPr lang="en-US" sz="2200" dirty="0"/>
          </a:p>
        </p:txBody>
      </p:sp>
      <p:sp>
        <p:nvSpPr>
          <p:cNvPr id="6" name="Ponto Vantagens do modelo de Go 0"/>
          <p:cNvSpPr/>
          <p:nvPr/>
        </p:nvSpPr>
        <p:spPr>
          <a:xfrm>
            <a:off x="777240" y="2487168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97280" y="237744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Goroutines são bem mais leves que threads do SO e permitem escalar o número de filósofos.</a:t>
            </a:r>
            <a:endParaRPr lang="en-US" sz="1600" dirty="0"/>
          </a:p>
        </p:txBody>
      </p:sp>
      <p:sp>
        <p:nvSpPr>
          <p:cNvPr id="8" name="Ponto Vantagens do modelo de Go 1"/>
          <p:cNvSpPr/>
          <p:nvPr/>
        </p:nvSpPr>
        <p:spPr>
          <a:xfrm>
            <a:off x="777240" y="3739896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97280" y="3630168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Paralelismo real em vários núcleos, sem o GIL do CPython (aqui o impacto é pequeno: time.Sleep domina).</a:t>
            </a:r>
            <a:endParaRPr lang="en-US" sz="1600" dirty="0"/>
          </a:p>
        </p:txBody>
      </p:sp>
      <p:sp>
        <p:nvSpPr>
          <p:cNvPr id="10" name="Ponto Vantagens do modelo de Go 2"/>
          <p:cNvSpPr/>
          <p:nvPr/>
        </p:nvSpPr>
        <p:spPr>
          <a:xfrm>
            <a:off x="777240" y="4992624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4882896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Channels deixam o garçom/semáforo mais legível e integrado à sintaxe.</a:t>
            </a:r>
            <a:endParaRPr lang="en-US" sz="1600" dirty="0"/>
          </a:p>
        </p:txBody>
      </p:sp>
      <p:sp>
        <p:nvSpPr>
          <p:cNvPr id="12" name="Coluna Limitações"/>
          <p:cNvSpPr/>
          <p:nvPr/>
        </p:nvSpPr>
        <p:spPr>
          <a:xfrm>
            <a:off x="6245352" y="1371600"/>
            <a:ext cx="5486400" cy="484632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3" name="Image 1" descr="Limitaçõ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6002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59752" y="1554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Limitações</a:t>
            </a:r>
            <a:endParaRPr lang="en-US" sz="2200" dirty="0"/>
          </a:p>
        </p:txBody>
      </p:sp>
      <p:sp>
        <p:nvSpPr>
          <p:cNvPr id="15" name="Ponto Limitações 0"/>
          <p:cNvSpPr/>
          <p:nvPr/>
        </p:nvSpPr>
        <p:spPr>
          <a:xfrm>
            <a:off x="6565392" y="2487168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85432" y="237744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Mutex exige disciplina: esquecer Unlock() ou travar em ordens diferentes pode reintroduzir deadlock.</a:t>
            </a:r>
            <a:endParaRPr lang="en-US" sz="1600" dirty="0"/>
          </a:p>
        </p:txBody>
      </p:sp>
      <p:sp>
        <p:nvSpPr>
          <p:cNvPr id="17" name="Ponto Limitações 1"/>
          <p:cNvSpPr/>
          <p:nvPr/>
        </p:nvSpPr>
        <p:spPr>
          <a:xfrm>
            <a:off x="6565392" y="3739896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85432" y="3630168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Mais difícil de raciocinar e depurar que o sequencial: condições de corrida aparecem esporadicamente.</a:t>
            </a:r>
            <a:endParaRPr lang="en-US" sz="1600" dirty="0"/>
          </a:p>
        </p:txBody>
      </p:sp>
      <p:sp>
        <p:nvSpPr>
          <p:cNvPr id="19" name="Ponto Limitações 2"/>
          <p:cNvSpPr/>
          <p:nvPr/>
        </p:nvSpPr>
        <p:spPr>
          <a:xfrm>
            <a:off x="6565392" y="4992624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85432" y="4882896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Frente ao OO clássico (Java): código mais enxuto, mas visibilidade só pela inicial maiúscula ou minúscula.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Resumo: Go × Python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43251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Concorrência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func(): uma palavra-chave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threading.Thread(...).start()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Sincronização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sync.Mutex + chan (nativo)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e Semaphore (biblioteca)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Tipagem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Estática e compilada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Dinâmica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de rastreamento concorrente; goroutines de pilha pequena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Contagem de referências + coletor de ciclos; threads do 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Paralelismo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em vários núcleos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 pelo GIL no CPython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Em troca de um código um pouco mais explícito, Go ganha clareza sobre o que é compartilhado e segurança de tipos em compilação.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Go no mundo real</a:t>
            </a:r>
            <a:endParaRPr lang="en-US" sz="3600" dirty="0"/>
          </a:p>
        </p:txBody>
      </p:sp>
      <p:sp>
        <p:nvSpPr>
          <p:cNvPr id="3" name="Cartao Docker"/>
          <p:cNvSpPr/>
          <p:nvPr/>
        </p:nvSpPr>
        <p:spPr>
          <a:xfrm>
            <a:off x="457200" y="1280160"/>
            <a:ext cx="1783080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Marcador Docker"/>
          <p:cNvSpPr/>
          <p:nvPr/>
        </p:nvSpPr>
        <p:spPr>
          <a:xfrm>
            <a:off x="594360" y="1417320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Docker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Plataforma de contêineres</a:t>
            </a:r>
            <a:endParaRPr lang="en-US" sz="1200" dirty="0"/>
          </a:p>
        </p:txBody>
      </p:sp>
      <p:sp>
        <p:nvSpPr>
          <p:cNvPr id="7" name="Cartao Kubernetes"/>
          <p:cNvSpPr/>
          <p:nvPr/>
        </p:nvSpPr>
        <p:spPr>
          <a:xfrm>
            <a:off x="2355494" y="1280160"/>
            <a:ext cx="1783080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Marcador Kubernetes"/>
          <p:cNvSpPr/>
          <p:nvPr/>
        </p:nvSpPr>
        <p:spPr>
          <a:xfrm>
            <a:off x="2492654" y="141732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66974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Kubernetes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492654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Orquestração de contêineres</a:t>
            </a:r>
            <a:endParaRPr lang="en-US" sz="1200" dirty="0"/>
          </a:p>
        </p:txBody>
      </p:sp>
      <p:sp>
        <p:nvSpPr>
          <p:cNvPr id="11" name="Cartao Terraform"/>
          <p:cNvSpPr/>
          <p:nvPr/>
        </p:nvSpPr>
        <p:spPr>
          <a:xfrm>
            <a:off x="4253789" y="1280160"/>
            <a:ext cx="1783080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Marcador Terraform"/>
          <p:cNvSpPr/>
          <p:nvPr/>
        </p:nvSpPr>
        <p:spPr>
          <a:xfrm>
            <a:off x="4390949" y="14173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5269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Terraform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90949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Infraestrutura como código</a:t>
            </a:r>
            <a:endParaRPr lang="en-US" sz="1200" dirty="0"/>
          </a:p>
        </p:txBody>
      </p:sp>
      <p:sp>
        <p:nvSpPr>
          <p:cNvPr id="15" name="Cartao Prometheus"/>
          <p:cNvSpPr/>
          <p:nvPr/>
        </p:nvSpPr>
        <p:spPr>
          <a:xfrm>
            <a:off x="6152083" y="1280160"/>
            <a:ext cx="1783080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Marcador Prometheus"/>
          <p:cNvSpPr/>
          <p:nvPr/>
        </p:nvSpPr>
        <p:spPr>
          <a:xfrm>
            <a:off x="6289243" y="141732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63563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Prometheus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89243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Monitoramento e métricas</a:t>
            </a:r>
            <a:endParaRPr lang="en-US" sz="1200" dirty="0"/>
          </a:p>
        </p:txBody>
      </p:sp>
      <p:sp>
        <p:nvSpPr>
          <p:cNvPr id="19" name="Cartao etcd"/>
          <p:cNvSpPr/>
          <p:nvPr/>
        </p:nvSpPr>
        <p:spPr>
          <a:xfrm>
            <a:off x="8050378" y="1280160"/>
            <a:ext cx="1783080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Marcador etcd"/>
          <p:cNvSpPr/>
          <p:nvPr/>
        </p:nvSpPr>
        <p:spPr>
          <a:xfrm>
            <a:off x="8187538" y="1417320"/>
            <a:ext cx="182880" cy="1828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61858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etcd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187538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Armazenamento chave-valor distribuído</a:t>
            </a:r>
            <a:endParaRPr lang="en-US" sz="1200" dirty="0"/>
          </a:p>
        </p:txBody>
      </p:sp>
      <p:sp>
        <p:nvSpPr>
          <p:cNvPr id="23" name="Cartao Caddy"/>
          <p:cNvSpPr/>
          <p:nvPr/>
        </p:nvSpPr>
        <p:spPr>
          <a:xfrm>
            <a:off x="9948672" y="1280160"/>
            <a:ext cx="1783080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Marcador Caddy"/>
          <p:cNvSpPr/>
          <p:nvPr/>
        </p:nvSpPr>
        <p:spPr>
          <a:xfrm>
            <a:off x="10085832" y="1417320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360152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Caddy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085832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Servidor web e proxy reverso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Mesmo padrão do jantar: transferência entre contas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245352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 que cada peça do jantar vira</a:t>
            </a:r>
            <a:endParaRPr lang="en-US" sz="1600" dirty="0"/>
          </a:p>
        </p:txBody>
      </p:sp>
      <p:sp>
        <p:nvSpPr>
          <p:cNvPr id="29" name="Cartao codigo transferencia"/>
          <p:cNvSpPr/>
          <p:nvPr/>
        </p:nvSpPr>
        <p:spPr>
          <a:xfrm>
            <a:off x="457200" y="3017520"/>
            <a:ext cx="5486400" cy="3200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0" name="Codigo transferencia"/>
          <p:cNvSpPr txBox="1"/>
          <p:nvPr/>
        </p:nvSpPr>
        <p:spPr>
          <a:xfrm>
            <a:off x="640080" y="3136392"/>
            <a:ext cx="51206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1" name="Correspondencia Mutex por garfo"/>
          <p:cNvSpPr/>
          <p:nvPr/>
        </p:nvSpPr>
        <p:spPr>
          <a:xfrm>
            <a:off x="6245352" y="3017520"/>
            <a:ext cx="5486400" cy="7040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46520" y="3017520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Mutex por garfo</a:t>
            </a:r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  →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lock por conta ou registro</a:t>
            </a:r>
            <a:endParaRPr lang="en-US" sz="1400" dirty="0"/>
          </a:p>
        </p:txBody>
      </p:sp>
      <p:sp>
        <p:nvSpPr>
          <p:cNvPr id="33" name="Correspondencia Canal seating"/>
          <p:cNvSpPr/>
          <p:nvPr/>
        </p:nvSpPr>
        <p:spPr>
          <a:xfrm>
            <a:off x="6245352" y="3831336"/>
            <a:ext cx="5486400" cy="7040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46520" y="3831336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Canal seating</a:t>
            </a:r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  →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limitar conexões ou requisições simultâneas</a:t>
            </a:r>
            <a:endParaRPr lang="en-US" sz="1400" dirty="0"/>
          </a:p>
        </p:txBody>
      </p:sp>
      <p:sp>
        <p:nvSpPr>
          <p:cNvPr id="35" name="Correspondencia Garfos por id"/>
          <p:cNvSpPr/>
          <p:nvPr/>
        </p:nvSpPr>
        <p:spPr>
          <a:xfrm>
            <a:off x="6245352" y="4645152"/>
            <a:ext cx="5486400" cy="7040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46520" y="4645152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Garfos por id</a:t>
            </a:r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  →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locks ordenados: transferências cruzadas não travam</a:t>
            </a:r>
            <a:endParaRPr lang="en-US" sz="1400" dirty="0"/>
          </a:p>
        </p:txBody>
      </p:sp>
      <p:sp>
        <p:nvSpPr>
          <p:cNvPr id="37" name="Correspondencia WaitGroup"/>
          <p:cNvSpPr/>
          <p:nvPr/>
        </p:nvSpPr>
        <p:spPr>
          <a:xfrm>
            <a:off x="6245352" y="5458968"/>
            <a:ext cx="5486400" cy="7040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46520" y="5458968"/>
            <a:ext cx="5120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WaitGroup</a:t>
            </a:r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  →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esperar um lote de tarefas terminar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Referências</a:t>
            </a:r>
            <a:endParaRPr lang="en-US" sz="3600" dirty="0"/>
          </a:p>
        </p:txBody>
      </p:sp>
      <p:sp>
        <p:nvSpPr>
          <p:cNvPr id="3" name="Referencia 1"/>
          <p:cNvSpPr/>
          <p:nvPr/>
        </p:nvSpPr>
        <p:spPr>
          <a:xfrm>
            <a:off x="457200" y="1371600"/>
            <a:ext cx="11274552" cy="10241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Numero ref 1"/>
          <p:cNvSpPr/>
          <p:nvPr/>
        </p:nvSpPr>
        <p:spPr>
          <a:xfrm>
            <a:off x="685800" y="16093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371600"/>
            <a:ext cx="9966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DIJKSTRA, Edsger W. </a:t>
            </a:r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Cooperating sequential processes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Eindhoven: Technological University Eindhoven, 1965.</a:t>
            </a:r>
            <a:endParaRPr lang="en-US" sz="1400" dirty="0"/>
          </a:p>
        </p:txBody>
      </p:sp>
      <p:sp>
        <p:nvSpPr>
          <p:cNvPr id="6" name="Referencia 2"/>
          <p:cNvSpPr/>
          <p:nvPr/>
        </p:nvSpPr>
        <p:spPr>
          <a:xfrm>
            <a:off x="457200" y="2560320"/>
            <a:ext cx="11274552" cy="10241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Numero ref 2"/>
          <p:cNvSpPr/>
          <p:nvPr/>
        </p:nvSpPr>
        <p:spPr>
          <a:xfrm>
            <a:off x="685800" y="2798064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60320"/>
            <a:ext cx="9966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 TEAM. </a:t>
            </a:r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The Go Programming Language Specification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[S. l.]: Google, [s. d.]. Disponível em: https://go.dev/ref/spec. Acesso em: 22 set. 2026.</a:t>
            </a:r>
            <a:endParaRPr lang="en-US" sz="1400" dirty="0"/>
          </a:p>
        </p:txBody>
      </p:sp>
      <p:sp>
        <p:nvSpPr>
          <p:cNvPr id="9" name="Referencia 3"/>
          <p:cNvSpPr/>
          <p:nvPr/>
        </p:nvSpPr>
        <p:spPr>
          <a:xfrm>
            <a:off x="457200" y="3749040"/>
            <a:ext cx="11274552" cy="10241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Numero ref 3"/>
          <p:cNvSpPr/>
          <p:nvPr/>
        </p:nvSpPr>
        <p:spPr>
          <a:xfrm>
            <a:off x="685800" y="398678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749040"/>
            <a:ext cx="9966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 TEAM. </a:t>
            </a:r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Package sync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[S. l.]: Google, [s. d.]. Disponível em: https://pkg.go.dev/sync. Acesso em: 22 set. 2026.</a:t>
            </a:r>
            <a:endParaRPr lang="en-US" sz="1400" dirty="0"/>
          </a:p>
        </p:txBody>
      </p:sp>
      <p:sp>
        <p:nvSpPr>
          <p:cNvPr id="12" name="Referencia 4"/>
          <p:cNvSpPr/>
          <p:nvPr/>
        </p:nvSpPr>
        <p:spPr>
          <a:xfrm>
            <a:off x="457200" y="4937760"/>
            <a:ext cx="11274552" cy="10241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Numero ref 4"/>
          <p:cNvSpPr/>
          <p:nvPr/>
        </p:nvSpPr>
        <p:spPr>
          <a:xfrm>
            <a:off x="685800" y="5175504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937760"/>
            <a:ext cx="9966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SOFTWARE FOUNDATION. </a:t>
            </a:r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threading — Thread-based parallelism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[S. l.: s. n.], [s. d.]. Disponível em: https://docs.python.org/3/library/threading.html. Acesso em: 22 set. 2026.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Obrigado!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Dúvidas? Código online: go.dev/play/p/MFBO_ue01rr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Gabriel Coutinho Silva · João Victor Gomes Meira · Rayssa Bianca de Oliveira · Vinicius Augusto Rodrigues Silva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osofos">
  <a:themeElements>
    <a:clrScheme name="Filosofos">
      <a:dk1>
        <a:srgbClr val="1B2A41"/>
      </a:dk1>
      <a:lt1>
        <a:srgbClr val="FFFFFF"/>
      </a:lt1>
      <a:dk2>
        <a:srgbClr val="0F1B2D"/>
      </a:dk2>
      <a:lt2>
        <a:srgbClr val="EEF2F7"/>
      </a:lt2>
      <a:accent1>
        <a:srgbClr val="F2B134"/>
      </a:accent1>
      <a:accent2>
        <a:srgbClr val="2A9D8F"/>
      </a:accent2>
      <a:accent3>
        <a:srgbClr val="E4775A"/>
      </a:accent3>
      <a:accent4>
        <a:srgbClr val="5B7DB1"/>
      </a:accent4>
      <a:accent5>
        <a:srgbClr val="6B7689"/>
      </a:accent5>
      <a:accent6>
        <a:srgbClr val="7DB36B"/>
      </a:accent6>
      <a:hlink>
        <a:srgbClr val="1F6FB2"/>
      </a:hlink>
      <a:folHlink>
        <a:srgbClr val="6B4E9B"/>
      </a:folHlink>
    </a:clrScheme>
    <a:fontScheme name="Filosof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Jantar dos Filósofos em Go</dc:title>
  <dc:subject>PptxGenJS Presentation</dc:subject>
  <dc:creator>Grupo 02</dc:creator>
  <cp:lastModifiedBy>Grupo 02</cp:lastModifiedBy>
  <cp:revision>1</cp:revision>
  <dcterms:created xsi:type="dcterms:W3CDTF">2026-10-10T20:11:59Z</dcterms:created>
  <dcterms:modified xsi:type="dcterms:W3CDTF">2026-10-10T20:11:59Z</dcterms:modified>
</cp:coreProperties>
</file>